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92"/>
    <p:restoredTop sz="94610"/>
  </p:normalViewPr>
  <p:slideViewPr>
    <p:cSldViewPr snapToGrid="0" snapToObjects="1">
      <p:cViewPr>
        <p:scale>
          <a:sx n="128" d="100"/>
          <a:sy n="128" d="100"/>
        </p:scale>
        <p:origin x="-2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piit-my.sharepoint.com/personal/g_gobbin_studenti_unipi_it/Documents/Presentazione%20Analisi%20Scacchi_Bar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EloDiff</c:v>
                </c:pt>
                <c:pt idx="1">
                  <c:v>WhiteElo</c:v>
                </c:pt>
                <c:pt idx="2">
                  <c:v>BlackElo</c:v>
                </c:pt>
                <c:pt idx="3">
                  <c:v>GameLenght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0.02</c:v>
                </c:pt>
                <c:pt idx="1">
                  <c:v>7.0000000000000007E-2</c:v>
                </c:pt>
                <c:pt idx="2">
                  <c:v>0.11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E-42D1-B992-D116976326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54120655"/>
        <c:axId val="1454119695"/>
      </c:barChart>
      <c:catAx>
        <c:axId val="14541206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119695"/>
        <c:crosses val="autoZero"/>
        <c:auto val="1"/>
        <c:lblAlgn val="ctr"/>
        <c:lblOffset val="100"/>
        <c:noMultiLvlLbl val="0"/>
      </c:catAx>
      <c:valAx>
        <c:axId val="14541196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Percentage of Importance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120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5A6DC-071F-401D-BA68-EB544B66D35D}" type="datetimeFigureOut">
              <a:t>30/01/26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E9A93-B325-4ED1-88AD-F1A7EF9C130E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Distributed Data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 Million Chess Games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Giorgio Gobbin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Matricola: 683071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29,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Questions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RQ1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28800" y="1280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1645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the winner based on ELO ratings and opening strategies?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4008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RQ2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828800" y="2468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8288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players be segmented into distinct style profiles?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4008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RQ3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828800" y="3657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Mining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82880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hidden patterns connecting openings to outcomes?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0116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5544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6,256,184</a:t>
            </a:r>
            <a:endParaRPr lang="en-US" sz="2400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Games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606040" y="1371600"/>
            <a:ext cx="20116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5544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0604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4+ GB</a:t>
            </a:r>
            <a:endParaRPr lang="en-US" sz="2800">
              <a:latin typeface="Arial Black"/>
              <a:ea typeface="Calibri"/>
              <a:cs typeface="Calibri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60604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754880" y="1371600"/>
            <a:ext cx="20116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5544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5488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July 2016</a:t>
            </a:r>
            <a:endParaRPr lang="en-US" sz="2400">
              <a:latin typeface="Arial Black"/>
              <a:ea typeface="Calibri"/>
              <a:cs typeface="Calibri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75488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903720" y="1371600"/>
            <a:ext cx="20116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55448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0372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Lichess.org</a:t>
            </a:r>
            <a:endParaRPr lang="en-US" sz="2000">
              <a:latin typeface="Arial Black"/>
              <a:ea typeface="Calibri"/>
              <a:cs typeface="Calibri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90372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4"/>
          <p:cNvSpPr/>
          <p:nvPr/>
        </p:nvSpPr>
        <p:spPr>
          <a:xfrm>
            <a:off x="640080" y="3472543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ELO System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/>
                <a:ea typeface="Calibri"/>
                <a:cs typeface="Calibri"/>
              </a:rPr>
              <a:t>A method to calculate relative skill levels in zero-sum games. Ratings range from ~700 (Beginner) to 3000+ (Super Grandmaster), with average around 1500-1700. After each game, the winner takes points from the loser based on expected outcome.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Quality Assessment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"/>
                <a:ea typeface="Arial" pitchFamily="34" charset="-122"/>
                <a:cs typeface="Arial"/>
              </a:rPr>
              <a:t>Exceptionally High Quality Dataset</a:t>
            </a:r>
            <a:endParaRPr lang="en-US" sz="2400">
              <a:latin typeface="Arial"/>
              <a:ea typeface="Calibri"/>
              <a:cs typeface="Arial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945649"/>
            <a:ext cx="82296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955280" y="2037089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894081"/>
            <a:ext cx="82296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955280" y="299296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778904"/>
            <a:ext cx="82296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955280" y="3833109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1831" y="4285212"/>
            <a:ext cx="7853449" cy="4925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dirty="0">
              <a:solidFill>
                <a:srgbClr val="21212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40080" y="327046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0455" y="203983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65095" y="2054629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duplicate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213921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30455" y="298552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65095" y="2976607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0.07% in rating columns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3068047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89548" y="3842513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Columns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65095" y="3833109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(AN, Result, ECO)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89520" y="392921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38698D5-FF54-BAE0-CD17-50BE6F355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3C6845-61D0-A5E1-4068-65E8CDE92EE9}"/>
              </a:ext>
            </a:extLst>
          </p:cNvPr>
          <p:cNvSpPr txBox="1"/>
          <p:nvPr/>
        </p:nvSpPr>
        <p:spPr>
          <a:xfrm>
            <a:off x="914400" y="327259"/>
            <a:ext cx="6896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Quality Assessment</a:t>
            </a:r>
            <a:endParaRPr lang="en-US" sz="3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4BA3B61-1E7E-CA7B-C312-E38D0F6BF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" t="1951" r="1102"/>
          <a:stretch>
            <a:fillRect/>
          </a:stretch>
        </p:blipFill>
        <p:spPr>
          <a:xfrm>
            <a:off x="3243263" y="1486395"/>
            <a:ext cx="5500688" cy="3329846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D3DDFD0F-D74B-4B4A-80CC-280C2EE42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2199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A4F623A-BD5C-5CB5-45D6-390DF675F115}"/>
              </a:ext>
            </a:extLst>
          </p:cNvPr>
          <p:cNvSpPr/>
          <p:nvPr/>
        </p:nvSpPr>
        <p:spPr>
          <a:xfrm>
            <a:off x="457200" y="1486395"/>
            <a:ext cx="2614617" cy="295701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pPr lvl="0">
              <a:defRPr/>
            </a:pPr>
            <a:r>
              <a:rPr lang="it-IT" sz="2400" b="1" dirty="0">
                <a:solidFill>
                  <a:schemeClr val="tx2"/>
                </a:solidFill>
              </a:rPr>
              <a:t>🔍 Key </a:t>
            </a:r>
            <a:r>
              <a:rPr lang="it-IT" sz="2400" b="1" dirty="0" err="1">
                <a:solidFill>
                  <a:schemeClr val="tx2"/>
                </a:solidFill>
              </a:rPr>
              <a:t>Finding</a:t>
            </a:r>
            <a:r>
              <a:rPr lang="it-IT" sz="2400" b="1" dirty="0">
                <a:solidFill>
                  <a:schemeClr val="tx2"/>
                </a:solidFill>
              </a:rPr>
              <a:t>:</a:t>
            </a:r>
          </a:p>
          <a:p>
            <a:pPr lvl="0">
              <a:defRPr/>
            </a:pPr>
            <a:endParaRPr lang="it-IT" sz="2400" b="1" dirty="0">
              <a:solidFill>
                <a:schemeClr val="tx2"/>
              </a:solidFill>
            </a:endParaRPr>
          </a:p>
          <a:p>
            <a:pPr marL="342900" indent="-342900">
              <a:buFontTx/>
              <a:buChar char="-"/>
              <a:defRPr/>
            </a:pPr>
            <a:r>
              <a:rPr lang="it-IT" b="1" dirty="0">
                <a:solidFill>
                  <a:schemeClr val="tx2"/>
                </a:solidFill>
              </a:rPr>
              <a:t>300 ≤ x ≤ 3000</a:t>
            </a:r>
          </a:p>
          <a:p>
            <a:pPr marL="342900" indent="-342900">
              <a:buFontTx/>
              <a:buChar char="-"/>
              <a:defRPr/>
            </a:pPr>
            <a:endParaRPr lang="it-IT" b="1" dirty="0">
              <a:solidFill>
                <a:schemeClr val="tx2"/>
              </a:solidFill>
            </a:endParaRPr>
          </a:p>
          <a:p>
            <a:pPr marL="342900" lvl="0" indent="-342900">
              <a:buFontTx/>
              <a:buChar char="-"/>
              <a:defRPr/>
            </a:pPr>
            <a:r>
              <a:rPr lang="it-IT" b="1" dirty="0">
                <a:solidFill>
                  <a:schemeClr val="tx2"/>
                </a:solidFill>
              </a:rPr>
              <a:t>Mean ≃ 1741</a:t>
            </a:r>
          </a:p>
          <a:p>
            <a:pPr marL="342900" lvl="0" indent="-342900">
              <a:buFontTx/>
              <a:buChar char="-"/>
              <a:defRPr/>
            </a:pPr>
            <a:endParaRPr lang="it-IT" b="1" dirty="0">
              <a:solidFill>
                <a:schemeClr val="tx2"/>
              </a:solidFill>
            </a:endParaRPr>
          </a:p>
          <a:p>
            <a:pPr marL="342900" lvl="0" indent="-342900">
              <a:buFontTx/>
              <a:buChar char="-"/>
              <a:defRPr/>
            </a:pPr>
            <a:r>
              <a:rPr lang="it-IT" b="1" dirty="0" err="1">
                <a:solidFill>
                  <a:schemeClr val="tx2"/>
                </a:solidFill>
              </a:rPr>
              <a:t>StDev</a:t>
            </a:r>
            <a:r>
              <a:rPr lang="it-IT" b="1" dirty="0">
                <a:solidFill>
                  <a:schemeClr val="tx2"/>
                </a:solidFill>
              </a:rPr>
              <a:t> ≃ 266</a:t>
            </a:r>
          </a:p>
          <a:p>
            <a:pPr marL="342900" lvl="0" indent="-342900">
              <a:buFontTx/>
              <a:buChar char="-"/>
              <a:defRPr/>
            </a:pPr>
            <a:endParaRPr lang="it-IT" b="1" dirty="0">
              <a:solidFill>
                <a:schemeClr val="tx2"/>
              </a:solidFill>
            </a:endParaRPr>
          </a:p>
          <a:p>
            <a:pPr marL="342900" lvl="0" indent="-342900">
              <a:buFontTx/>
              <a:buChar char="-"/>
              <a:defRPr/>
            </a:pPr>
            <a:r>
              <a:rPr lang="it-IT" b="1" dirty="0">
                <a:solidFill>
                  <a:schemeClr val="tx2"/>
                </a:solidFill>
              </a:rPr>
              <a:t>Spike = 1500</a:t>
            </a:r>
          </a:p>
          <a:p>
            <a:pPr marL="342900" lvl="0" indent="-342900">
              <a:buFontTx/>
              <a:buChar char="-"/>
              <a:defRPr/>
            </a:pPr>
            <a:endParaRPr lang="it-IT" sz="2400" b="1" dirty="0">
              <a:solidFill>
                <a:schemeClr val="tx2"/>
              </a:solidFill>
            </a:endParaRPr>
          </a:p>
          <a:p>
            <a:pPr marL="342900" lvl="0" indent="-342900">
              <a:buFontTx/>
              <a:buChar char="-"/>
              <a:defRPr/>
            </a:pPr>
            <a:endParaRPr lang="it-IT" sz="2400" b="1" dirty="0">
              <a:solidFill>
                <a:schemeClr val="tx2"/>
              </a:solidFill>
            </a:endParaRPr>
          </a:p>
          <a:p>
            <a:pPr lvl="0"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70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Processing Pipeline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Feature Engineering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41148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Filtered abandoned games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Converted Result to numerical labels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Created EloDiff feature (White ELO - Black ELO)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Derived GameLength from move sequences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Window Functions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5488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Used PySpark Window Functions to identify reference games for each opening strategy without expensive self-joins.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54880" y="2481943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846320" y="2573383"/>
            <a:ext cx="374904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/>
                <a:ea typeface="Consolas" pitchFamily="34" charset="-122"/>
                <a:cs typeface="Consolas" pitchFamily="34" charset="-120"/>
              </a:rPr>
              <a:t>spec = Window.partitionBy('ECO')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.orderBy(desc('WhiteElo'))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/>
                <a:ea typeface="Consolas" pitchFamily="34" charset="-122"/>
                <a:cs typeface="Consolas" pitchFamily="34" charset="-120"/>
              </a:rPr>
              <a:t>df_ranked = df.withColumn('Rank',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row_number().over(spec))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/>
                <a:ea typeface="Consolas" pitchFamily="34" charset="-122"/>
                <a:cs typeface="Consolas" pitchFamily="34" charset="-120"/>
              </a:rPr>
              <a:t>top_games = df_ranked</a:t>
            </a:r>
            <a:endParaRPr lang="en-US" sz="12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.filter(col('Rank') == 1)</a:t>
            </a:r>
            <a:endParaRPr lang="en-US" sz="1200" dirty="0">
              <a:latin typeface="Consola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4114800" cy="1463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  <a:latin typeface="Arial"/>
                <a:ea typeface="Arial" pitchFamily="34" charset="-122"/>
                <a:cs typeface="Arial"/>
              </a:rPr>
              <a:t>Computing Environment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4023360"/>
            <a:ext cx="37490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Platform: Kaggle Notebooks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Accelerator: NVIDIA T4 GPU x2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Framework: PySpark 3.x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Supervised Learning: Predicting the Winner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41148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Model: Random Forest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Accuracy: 63%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Baseline: 33% (random guessing)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Challenge: High-cardinality ECO variable (solved with maxBins=1000)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57200" y="3200400"/>
            <a:ext cx="4142014" cy="17841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640080" y="3198223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1" y="3708763"/>
            <a:ext cx="3705496" cy="7674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EloDiff is the </a:t>
            </a:r>
            <a:r>
              <a:rPr lang="en-US" sz="1600" u="sng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dominant predictor.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Skill gap between players is the most reliable factor for predicting game outcome. GameLength shows minimal predictive power.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94C9DBA-AE61-1824-7D62-265784149B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491559"/>
              </p:ext>
            </p:extLst>
          </p:nvPr>
        </p:nvGraphicFramePr>
        <p:xfrm>
          <a:off x="4733745" y="1587500"/>
          <a:ext cx="3957368" cy="3228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Player Segmentation: K-Means Clustering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K-Means Clustering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AverageElo, GameLength, EloGap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k: 4 (determined via Elbow Method)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Distinct Player Profiles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754880" y="1645920"/>
            <a:ext cx="393192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4892040" y="1719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0: Masters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9204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ELO ~1952, standard games, low EloGap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393192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892040" y="2404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1: Beginners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9204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ELO ~1545, shortest games (~407 chars)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017520"/>
            <a:ext cx="393192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89204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2: Mismatches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9204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EloGap (~407 points vs avg 100)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703320"/>
            <a:ext cx="393192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4892040" y="3776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3: Marathons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9204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ELO ~1745, exceptionally long (4x avg)</a:t>
            </a:r>
            <a:endParaRPr lang="en-US" sz="1100" dirty="0"/>
          </a:p>
        </p:txBody>
      </p:sp>
      <p:pic>
        <p:nvPicPr>
          <p:cNvPr id="23" name="Immagine 22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461FB301-55EE-BB3A-95A7-2490DBC8FB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8" r="1"/>
          <a:stretch>
            <a:fillRect/>
          </a:stretch>
        </p:blipFill>
        <p:spPr>
          <a:xfrm>
            <a:off x="650631" y="2519173"/>
            <a:ext cx="3601330" cy="2624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A33A7B00-5BBF-E10E-9ADC-0E55E1D96B08}"/>
              </a:ext>
            </a:extLst>
          </p:cNvPr>
          <p:cNvSpPr/>
          <p:nvPr/>
        </p:nvSpPr>
        <p:spPr>
          <a:xfrm>
            <a:off x="457200" y="1743366"/>
            <a:ext cx="3417376" cy="2875128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it-IT" dirty="0"/>
          </a:p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Critical Discovery:</a:t>
            </a:r>
          </a:p>
          <a:p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Text 17">
            <a:extLst>
              <a:ext uri="{FF2B5EF4-FFF2-40B4-BE49-F238E27FC236}">
                <a16:creationId xmlns:a16="http://schemas.microsoft.com/office/drawing/2014/main" id="{8410D4D8-DF9B-BE3A-2D22-8C70A969F42B}"/>
              </a:ext>
            </a:extLst>
          </p:cNvPr>
          <p:cNvSpPr/>
          <p:nvPr/>
        </p:nvSpPr>
        <p:spPr>
          <a:xfrm>
            <a:off x="640079" y="1849033"/>
            <a:ext cx="2723053" cy="2769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85C58F6-E5A1-1D90-3ED4-224393936AC4}"/>
              </a:ext>
            </a:extLst>
          </p:cNvPr>
          <p:cNvSpPr txBox="1"/>
          <p:nvPr/>
        </p:nvSpPr>
        <p:spPr>
          <a:xfrm>
            <a:off x="1181745" y="171450"/>
            <a:ext cx="73733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6454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Player Segmentation: K-Means Clustering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CA4C382-0875-DB53-9F42-00094AC9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pic>
        <p:nvPicPr>
          <p:cNvPr id="12" name="Immagine 11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2992022-60FE-0A7C-BEA0-A78BDFCA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921" y="1455868"/>
            <a:ext cx="4086058" cy="332187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9B340FE-4BC2-7EE0-59CA-3191474210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76"/>
          <a:stretch>
            <a:fillRect/>
          </a:stretch>
        </p:blipFill>
        <p:spPr>
          <a:xfrm>
            <a:off x="4311956" y="1404367"/>
            <a:ext cx="4086058" cy="337337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32A54C15-2542-8886-53FA-4C94BAD155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6"/>
          <a:stretch>
            <a:fillRect/>
          </a:stretch>
        </p:blipFill>
        <p:spPr>
          <a:xfrm>
            <a:off x="4263886" y="1395162"/>
            <a:ext cx="4037988" cy="3373373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C648104-BF50-B9DB-5DAF-31924EBB8FB7}"/>
              </a:ext>
            </a:extLst>
          </p:cNvPr>
          <p:cNvSpPr txBox="1"/>
          <p:nvPr/>
        </p:nvSpPr>
        <p:spPr>
          <a:xfrm>
            <a:off x="457200" y="2705363"/>
            <a:ext cx="2795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bg1"/>
                </a:solidFill>
              </a:rPr>
              <a:t>🏆  </a:t>
            </a:r>
            <a:r>
              <a:rPr lang="it-IT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-&gt; </a:t>
            </a:r>
            <a:r>
              <a:rPr lang="it-IT" sz="1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r>
              <a:rPr lang="it-IT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ELO</a:t>
            </a:r>
          </a:p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03B7A3D-489B-1BFA-BDFE-9998549FD2D2}"/>
              </a:ext>
            </a:extLst>
          </p:cNvPr>
          <p:cNvSpPr txBox="1"/>
          <p:nvPr/>
        </p:nvSpPr>
        <p:spPr>
          <a:xfrm>
            <a:off x="457200" y="3256509"/>
            <a:ext cx="3340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bg1"/>
                </a:solidFill>
              </a:rPr>
              <a:t>⏳  </a:t>
            </a:r>
            <a:r>
              <a:rPr lang="it-IT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Marathons</a:t>
            </a: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it-IT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Duration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07049B4-27D0-0071-F1F4-582553BB7CD9}"/>
              </a:ext>
            </a:extLst>
          </p:cNvPr>
          <p:cNvSpPr txBox="1"/>
          <p:nvPr/>
        </p:nvSpPr>
        <p:spPr>
          <a:xfrm>
            <a:off x="457200" y="3910827"/>
            <a:ext cx="3491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bg1"/>
                </a:solidFill>
              </a:rPr>
              <a:t>⚖️  </a:t>
            </a: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Mismatches -&gt; </a:t>
            </a:r>
            <a:r>
              <a:rPr lang="it-IT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ELO Gap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FCBDA72-D414-8A4C-7963-F482DCE11D80}"/>
              </a:ext>
            </a:extLst>
          </p:cNvPr>
          <p:cNvSpPr/>
          <p:nvPr/>
        </p:nvSpPr>
        <p:spPr>
          <a:xfrm>
            <a:off x="457200" y="2595614"/>
            <a:ext cx="3417376" cy="570007"/>
          </a:xfrm>
          <a:prstGeom prst="rect">
            <a:avLst/>
          </a:prstGeom>
          <a:solidFill>
            <a:srgbClr val="36454F">
              <a:alpha val="87878"/>
            </a:srgbClr>
          </a:solidFill>
          <a:ln/>
        </p:spPr>
        <p:txBody>
          <a:bodyPr/>
          <a:lstStyle/>
          <a:p>
            <a:endParaRPr lang="it-IT" dirty="0"/>
          </a:p>
          <a:p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EC8831E-7B1E-4384-F89A-A650D2ED8DA4}"/>
              </a:ext>
            </a:extLst>
          </p:cNvPr>
          <p:cNvSpPr/>
          <p:nvPr/>
        </p:nvSpPr>
        <p:spPr>
          <a:xfrm>
            <a:off x="494342" y="3786341"/>
            <a:ext cx="3380234" cy="463056"/>
          </a:xfrm>
          <a:prstGeom prst="rect">
            <a:avLst/>
          </a:prstGeom>
          <a:solidFill>
            <a:srgbClr val="36454F">
              <a:alpha val="82056"/>
            </a:srgbClr>
          </a:solidFill>
          <a:ln/>
        </p:spPr>
        <p:txBody>
          <a:bodyPr/>
          <a:lstStyle/>
          <a:p>
            <a:endParaRPr lang="it-IT" dirty="0"/>
          </a:p>
          <a:p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DB1A597-891A-E7A2-C6EE-D03589A3EEA8}"/>
              </a:ext>
            </a:extLst>
          </p:cNvPr>
          <p:cNvSpPr/>
          <p:nvPr/>
        </p:nvSpPr>
        <p:spPr>
          <a:xfrm>
            <a:off x="469218" y="3212258"/>
            <a:ext cx="3328961" cy="463056"/>
          </a:xfrm>
          <a:prstGeom prst="rect">
            <a:avLst/>
          </a:prstGeom>
          <a:solidFill>
            <a:srgbClr val="36454F">
              <a:alpha val="84827"/>
            </a:srgbClr>
          </a:solidFill>
          <a:ln/>
        </p:spPr>
        <p:txBody>
          <a:bodyPr/>
          <a:lstStyle/>
          <a:p>
            <a:endParaRPr lang="it-IT" dirty="0"/>
          </a:p>
          <a:p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E8C0E30-A940-CEC1-6A8B-AD30A11A5B16}"/>
              </a:ext>
            </a:extLst>
          </p:cNvPr>
          <p:cNvSpPr txBox="1"/>
          <p:nvPr/>
        </p:nvSpPr>
        <p:spPr>
          <a:xfrm>
            <a:off x="472427" y="3910827"/>
            <a:ext cx="3991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⚖️ Mismatches -&gt; </a:t>
            </a:r>
            <a:r>
              <a:rPr lang="it-IT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ELO Gap</a:t>
            </a:r>
          </a:p>
          <a:p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6177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</a:t>
            </a:r>
            <a:r>
              <a:rPr lang="en-US" sz="28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Mining: Association Rules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FPGrowth Algorithm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frequent patterns and association rules between opening strategies and game results, revealing hidden correlations in the data.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8229600" cy="246888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Rule with 53.1% Confidence: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{Van't Kruijs Opening} ⇒ {Black Win}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Van't Kruijs Opening (1. e3) is statistically weak for White. Unlike aggressive moves that fight for the center, 1. e3 is passive, restricting the Queen's Bishop and surrendering first-move advantage. The data validates this theoretical flaw: this passive setup correlates with a sharp increase in Black's win rate.</a:t>
            </a:r>
            <a:endParaRPr lang="en-US" sz="130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9B76376-09B1-7357-EE50-88265DACDD9B}"/>
              </a:ext>
            </a:extLst>
          </p:cNvPr>
          <p:cNvSpPr/>
          <p:nvPr/>
        </p:nvSpPr>
        <p:spPr>
          <a:xfrm>
            <a:off x="-444136" y="1188720"/>
            <a:ext cx="10855234" cy="3954780"/>
          </a:xfrm>
          <a:prstGeom prst="rect">
            <a:avLst/>
          </a:prstGeom>
          <a:solidFill>
            <a:schemeClr val="bg1">
              <a:alpha val="4643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6" name="Registrazione schermo 2026-01-31 alle 15.35.58">
            <a:hlinkClick r:id="" action="ppaction://media"/>
            <a:extLst>
              <a:ext uri="{FF2B5EF4-FFF2-40B4-BE49-F238E27FC236}">
                <a16:creationId xmlns:a16="http://schemas.microsoft.com/office/drawing/2014/main" id="{1F875840-37AC-8A57-FEFF-1FA352A627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77886" y="1232490"/>
            <a:ext cx="3438651" cy="3293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The 'Van't Kruijs' Trap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469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7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Regression Analysis: Game Length Prediction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411480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Higher skill difference leads to shorter games (quick checkmate)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Linear Regression (GameLength ~ EloDiff)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54880" y="1645920"/>
            <a:ext cx="393192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89204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0" y="17373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0.0003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754880" y="2331720"/>
            <a:ext cx="393192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89204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2423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-0.0405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Scientific Interpretation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R² score is effectively zero — this negative result is scientifically important as it disproves the hypothesis.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skill gap does NOT statistically guarantee a shorter game on Lichess. Possible explanations: stronger players may prolong games for practice, experimentation, or simply enjoying their advantage rather than forcing quick checkmates.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57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399" y="2286000"/>
            <a:ext cx="6923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235131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rating difference is the primary predictor of chess outcomes with 63% accuracy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6923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289995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identified 4 distinct player profiles, including a unique 'Marathon Games' cluster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399" y="3383280"/>
            <a:ext cx="6923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71600" y="344859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revealed that passive openings like Van't Kruijs flip odds in favor of Black (53%)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692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71600" y="399723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duration is NOT correlated with skill gap — disproving the 'quick mate' hypothesis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6319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Giorgio Gobbin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Matricola: 683071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giorgio.gobbin@studenti.unipd.it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797</Words>
  <Application>Microsoft Macintosh PowerPoint</Application>
  <PresentationFormat>Presentazione su schermo (16:9)</PresentationFormat>
  <Paragraphs>145</Paragraphs>
  <Slides>13</Slides>
  <Notes>11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Google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Data Analysis Project</dc:title>
  <dc:subject>PptxGenJS Presentation</dc:subject>
  <dc:creator>Giorgio Gobbin</dc:creator>
  <cp:lastModifiedBy>Giorgio Gobbin</cp:lastModifiedBy>
  <cp:revision>116</cp:revision>
  <dcterms:created xsi:type="dcterms:W3CDTF">2026-01-30T11:02:57Z</dcterms:created>
  <dcterms:modified xsi:type="dcterms:W3CDTF">2026-02-01T18:26:59Z</dcterms:modified>
</cp:coreProperties>
</file>